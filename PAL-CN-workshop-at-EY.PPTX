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10" r:id="rId2"/>
    <p:sldMasterId id="2147483716" r:id="rId3"/>
    <p:sldMasterId id="2147483724" r:id="rId4"/>
  </p:sldMasterIdLst>
  <p:notesMasterIdLst>
    <p:notesMasterId r:id="rId10"/>
  </p:notesMasterIdLst>
  <p:handoutMasterIdLst>
    <p:handoutMasterId r:id="rId11"/>
  </p:handoutMasterIdLst>
  <p:sldIdLst>
    <p:sldId id="353" r:id="rId5"/>
    <p:sldId id="360" r:id="rId6"/>
    <p:sldId id="377" r:id="rId7"/>
    <p:sldId id="374" r:id="rId8"/>
    <p:sldId id="376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BEC9F5-E74A-0C43-AF9D-619E2F4BC018}">
          <p14:sldIdLst>
            <p14:sldId id="353"/>
            <p14:sldId id="360"/>
            <p14:sldId id="377"/>
            <p14:sldId id="374"/>
            <p14:sldId id="3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A"/>
    <a:srgbClr val="13A78D"/>
    <a:srgbClr val="0F7965"/>
    <a:srgbClr val="162128"/>
    <a:srgbClr val="016B54"/>
    <a:srgbClr val="F8F8F8"/>
    <a:srgbClr val="E5E5E5"/>
    <a:srgbClr val="008774"/>
    <a:srgbClr val="0F7661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3" autoAdjust="0"/>
    <p:restoredTop sz="87883" autoAdjust="0"/>
  </p:normalViewPr>
  <p:slideViewPr>
    <p:cSldViewPr snapToGrid="0" snapToObjects="1">
      <p:cViewPr varScale="1">
        <p:scale>
          <a:sx n="79" d="100"/>
          <a:sy n="79" d="100"/>
        </p:scale>
        <p:origin x="892" y="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9" d="100"/>
        <a:sy n="8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E5B6B-8713-8747-AE5B-F1241B2BF5F0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CB75-1A26-DA44-8D3D-5B435BA85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355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B7340-DDD5-1B49-81AA-25BC4050C073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E0D42-653B-D743-8A40-7FC34906D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38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Resting slide</a:t>
            </a:r>
            <a:r>
              <a:rPr lang="en-US" baseline="0" dirty="0"/>
              <a:t> on screen before you begin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DBE90-FDBE-A44D-9062-5A5D1585D5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8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spcBef>
                <a:spcPts val="1200"/>
              </a:spcBef>
              <a:buClr>
                <a:schemeClr val="dk1"/>
              </a:buClr>
              <a:buSzPct val="25000"/>
              <a:buFont typeface="Arial"/>
              <a:buNone/>
            </a:pPr>
            <a:endParaRPr lang="en-US" sz="1200" b="0" i="0" u="none" strike="noStrike" cap="none" baseline="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9BEDBE90-FDBE-A44D-9062-5A5D1585D5B8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18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85759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131525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1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hape 937"/>
          <p:cNvSpPr/>
          <p:nvPr/>
        </p:nvSpPr>
        <p:spPr>
          <a:xfrm>
            <a:off x="0" y="0"/>
            <a:ext cx="9144000" cy="21685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FBFBF">
                  <a:alpha val="60784"/>
                </a:srgbClr>
              </a:gs>
            </a:gsLst>
            <a:lin ang="16200000" scaled="0"/>
          </a:gra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 defTabSz="914400"/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938" name="Shape 938"/>
          <p:cNvSpPr txBox="1">
            <a:spLocks noGrp="1"/>
          </p:cNvSpPr>
          <p:nvPr>
            <p:ph type="ctrTitle"/>
          </p:nvPr>
        </p:nvSpPr>
        <p:spPr>
          <a:xfrm>
            <a:off x="2728911" y="1006879"/>
            <a:ext cx="6048376" cy="121879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9" name="Shape 939"/>
          <p:cNvSpPr txBox="1">
            <a:spLocks noGrp="1"/>
          </p:cNvSpPr>
          <p:nvPr>
            <p:ph type="subTitle" idx="1"/>
          </p:nvPr>
        </p:nvSpPr>
        <p:spPr>
          <a:xfrm>
            <a:off x="2728913" y="2455863"/>
            <a:ext cx="6048374" cy="190170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8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4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074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366712" y="325437"/>
            <a:ext cx="8410574" cy="4603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lnSpc>
                <a:spcPct val="90000"/>
              </a:lnSpc>
              <a:spcBef>
                <a:spcPts val="0"/>
              </a:spcBef>
              <a:defRPr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366713" y="1074737"/>
            <a:ext cx="8410574" cy="33829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1200"/>
              </a:spcBef>
              <a:buClr>
                <a:schemeClr val="accent1"/>
              </a:buClr>
              <a:buFont typeface="Noto Symbo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rtl="0">
              <a:spcBef>
                <a:spcPts val="300"/>
              </a:spcBef>
              <a:buClr>
                <a:schemeClr val="accent1"/>
              </a:buClr>
              <a:buFont typeface="Verdana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rtl="0">
              <a:spcBef>
                <a:spcPts val="300"/>
              </a:spcBef>
              <a:buClr>
                <a:schemeClr val="accent1"/>
              </a:buClr>
              <a:buFont typeface="Verdana"/>
              <a:buChar char="▪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8938" indent="-211138" rtl="0">
              <a:spcBef>
                <a:spcPts val="300"/>
              </a:spcBef>
              <a:buClr>
                <a:schemeClr val="accent1"/>
              </a:buClr>
              <a:buFont typeface="Verdana"/>
              <a:buChar char="—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rtl="0">
              <a:spcBef>
                <a:spcPts val="300"/>
              </a:spcBef>
              <a:buClr>
                <a:schemeClr val="accent1"/>
              </a:buClr>
              <a:buFont typeface="Verdana"/>
              <a:buChar char="»"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24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title"/>
          </p:nvPr>
        </p:nvSpPr>
        <p:spPr>
          <a:xfrm>
            <a:off x="366768" y="325437"/>
            <a:ext cx="8410499" cy="4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lnSpc>
                <a:spcPct val="90000"/>
              </a:lnSpc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168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633416" y="357187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762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65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302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19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080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73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9" name="Shape 209"/>
          <p:cNvSpPr txBox="1">
            <a:spLocks noGrp="1"/>
          </p:cNvSpPr>
          <p:nvPr>
            <p:ph type="sldNum" idx="12"/>
          </p:nvPr>
        </p:nvSpPr>
        <p:spPr>
          <a:xfrm>
            <a:off x="8810928" y="5010157"/>
            <a:ext cx="102642" cy="923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600" b="0" i="0" u="none" strike="noStrike" cap="none" baseline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lang="en-US" sz="600" b="0" i="0" u="none" strike="noStrike" cap="none" baseline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0841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sldNum" idx="12"/>
          </p:nvPr>
        </p:nvSpPr>
        <p:spPr>
          <a:xfrm>
            <a:off x="8553450" y="5021494"/>
            <a:ext cx="533399" cy="127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 b="0" i="0" u="none" strike="noStrike" cap="none" baseline="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800" b="0" i="0" u="none" strike="noStrike" cap="none" baseline="0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xfrm>
            <a:off x="366712" y="325437"/>
            <a:ext cx="8410576" cy="623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buClr>
                <a:srgbClr val="2C95DD"/>
              </a:buClr>
              <a:buNone/>
              <a:defRPr sz="3200">
                <a:solidFill>
                  <a:srgbClr val="2C95DD"/>
                </a:solidFill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366713" y="1074737"/>
            <a:ext cx="8410576" cy="34290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indent="-50800" algn="l" rtl="0">
              <a:spcBef>
                <a:spcPts val="560"/>
              </a:spcBef>
              <a:buClr>
                <a:srgbClr val="2C95DD"/>
              </a:buClr>
              <a:buFont typeface="Arial"/>
              <a:buChar char="•"/>
              <a:defRPr sz="2800">
                <a:solidFill>
                  <a:schemeClr val="dk1"/>
                </a:solidFill>
              </a:defRPr>
            </a:lvl1pPr>
            <a:lvl2pPr marL="742950" indent="-133350" algn="l" rtl="0">
              <a:spcBef>
                <a:spcPts val="480"/>
              </a:spcBef>
              <a:buClr>
                <a:srgbClr val="2C95DD"/>
              </a:buClr>
              <a:buFont typeface="Arial"/>
              <a:buChar char="–"/>
              <a:defRPr sz="2400">
                <a:solidFill>
                  <a:schemeClr val="dk1"/>
                </a:solidFill>
              </a:defRPr>
            </a:lvl2pPr>
            <a:lvl3pPr marL="1143000" indent="-101600" algn="l" rtl="0">
              <a:spcBef>
                <a:spcPts val="400"/>
              </a:spcBef>
              <a:buClr>
                <a:srgbClr val="2C95DD"/>
              </a:buClr>
              <a:buFont typeface="Arial"/>
              <a:buChar char="•"/>
              <a:defRPr sz="2000">
                <a:solidFill>
                  <a:schemeClr val="dk1"/>
                </a:solidFill>
              </a:defRPr>
            </a:lvl3pPr>
            <a:lvl4pPr marL="1600200" indent="-114300" algn="l" rtl="0">
              <a:spcBef>
                <a:spcPts val="360"/>
              </a:spcBef>
              <a:buClr>
                <a:srgbClr val="2C95DD"/>
              </a:buClr>
              <a:buFont typeface="Arial"/>
              <a:buChar char="–"/>
              <a:defRPr sz="1800">
                <a:solidFill>
                  <a:schemeClr val="dk1"/>
                </a:solidFill>
              </a:defRPr>
            </a:lvl4pPr>
            <a:lvl5pPr marL="2057400" indent="-114300" algn="l" rtl="0">
              <a:spcBef>
                <a:spcPts val="360"/>
              </a:spcBef>
              <a:buClr>
                <a:srgbClr val="2C95DD"/>
              </a:buClr>
              <a:buFont typeface="Arial"/>
              <a:buChar char="»"/>
              <a:defRPr sz="1800">
                <a:solidFill>
                  <a:schemeClr val="dk1"/>
                </a:solidFill>
              </a:defRPr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515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11695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Picture 6" descr="Pivotal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415" y="4854091"/>
            <a:ext cx="712061" cy="173736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32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27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66725" y="240820"/>
            <a:ext cx="8410575" cy="46037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90000"/>
              </a:lnSpc>
              <a:defRPr sz="32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1044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srgbClr val="000000">
                    <a:tint val="7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833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xfrm>
            <a:off x="633425" y="357188"/>
            <a:ext cx="7877175" cy="8572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20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6431201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6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prstClr val="white"/>
                </a:solidFill>
                <a:latin typeface="Arial"/>
              </a:rPr>
              <a:pPr/>
              <a:t>‹#›</a:t>
            </a:fld>
            <a:endParaRPr lang="en-US">
              <a:solidFill>
                <a:prstClr val="white"/>
              </a:solidFill>
              <a:latin typeface="Arial"/>
            </a:endParaRPr>
          </a:p>
        </p:txBody>
      </p:sp>
      <p:pic>
        <p:nvPicPr>
          <p:cNvPr id="7" name="Picture 6" descr="pivotal_gree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438" y="4656658"/>
            <a:ext cx="831214" cy="20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88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53993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3658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Picture 6" descr="Pivotal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415" y="4854091"/>
            <a:ext cx="712061" cy="173736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5965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3922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66725" y="240820"/>
            <a:ext cx="8410575" cy="46037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90000"/>
              </a:lnSpc>
              <a:defRPr sz="32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953224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srgbClr val="000000">
                    <a:tint val="7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5224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xfrm>
            <a:off x="633425" y="357188"/>
            <a:ext cx="7877175" cy="8572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20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99941480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6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prstClr val="white"/>
                </a:solidFill>
                <a:latin typeface="Arial"/>
              </a:rPr>
              <a:pPr/>
              <a:t>‹#›</a:t>
            </a:fld>
            <a:endParaRPr lang="en-US">
              <a:solidFill>
                <a:prstClr val="white"/>
              </a:solidFill>
              <a:latin typeface="Arial"/>
            </a:endParaRPr>
          </a:p>
        </p:txBody>
      </p:sp>
      <p:pic>
        <p:nvPicPr>
          <p:cNvPr id="7" name="Picture 6" descr="pivotal_gree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438" y="4656658"/>
            <a:ext cx="831214" cy="20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1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" y="4823363"/>
            <a:ext cx="3733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ADA07C09-8A41-3B46-A636-3955072BBB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5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32" r:id="rId2"/>
    <p:sldLayoutId id="2147483733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28"/>
        </a:solidFill>
        <a:effectLst/>
      </p:bgPr>
    </p:bg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931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2" name="Shape 9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3" name="Shape 933"/>
          <p:cNvSpPr txBox="1">
            <a:spLocks noGrp="1"/>
          </p:cNvSpPr>
          <p:nvPr>
            <p:ph type="dt" idx="10"/>
          </p:nvPr>
        </p:nvSpPr>
        <p:spPr>
          <a:xfrm>
            <a:off x="457200" y="4767262"/>
            <a:ext cx="2133599" cy="2746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178" marR="0" indent="-12678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354" marR="0" indent="-12653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532" marR="0" indent="-12631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708" marR="0" indent="-1260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5886" marR="0" indent="-12586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062" marR="0" indent="-12562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240" marR="0" indent="-12539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417" marR="0" indent="-1251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endParaRPr kern="0">
              <a:rtl val="0"/>
            </a:endParaRPr>
          </a:p>
        </p:txBody>
      </p:sp>
      <p:sp>
        <p:nvSpPr>
          <p:cNvPr id="934" name="Shape 934"/>
          <p:cNvSpPr txBox="1">
            <a:spLocks noGrp="1"/>
          </p:cNvSpPr>
          <p:nvPr>
            <p:ph type="ftr" idx="11"/>
          </p:nvPr>
        </p:nvSpPr>
        <p:spPr>
          <a:xfrm>
            <a:off x="3124200" y="4767262"/>
            <a:ext cx="2895600" cy="2746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178" marR="0" indent="-12678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354" marR="0" indent="-12653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532" marR="0" indent="-12631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708" marR="0" indent="-1260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5886" marR="0" indent="-12586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062" marR="0" indent="-12562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240" marR="0" indent="-12539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417" marR="0" indent="-1251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endParaRPr kern="0">
              <a:rtl val="0"/>
            </a:endParaRPr>
          </a:p>
        </p:txBody>
      </p:sp>
      <p:sp>
        <p:nvSpPr>
          <p:cNvPr id="935" name="Shape 935"/>
          <p:cNvSpPr txBox="1">
            <a:spLocks noGrp="1"/>
          </p:cNvSpPr>
          <p:nvPr>
            <p:ph type="sldNum" idx="12"/>
          </p:nvPr>
        </p:nvSpPr>
        <p:spPr>
          <a:xfrm>
            <a:off x="6553200" y="4767262"/>
            <a:ext cx="2133599" cy="2746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 defTabSz="914400">
              <a:buSzPct val="25000"/>
            </a:pPr>
            <a:fld id="{00000000-1234-1234-1234-123412341234}" type="slidenum">
              <a:rPr lang="en-US" sz="1200" ker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pPr algn="r" defTabSz="914400">
                <a:buSzPct val="25000"/>
              </a:pPr>
              <a:t>‹#›</a:t>
            </a:fld>
            <a:endParaRPr lang="en-US" sz="1200" kern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0605132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6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8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F_Bridge-01.jpeg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Shape 2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2730">
              <a:alpha val="7700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 baseline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 descr="pivotal_white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110" y="978442"/>
            <a:ext cx="1368554" cy="336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800" y="1898424"/>
            <a:ext cx="7897090" cy="73866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200" b="1" spc="-100" dirty="0">
                <a:solidFill>
                  <a:srgbClr val="00AE9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rPr>
              <a:t>Cloud Native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110" y="2511428"/>
            <a:ext cx="6871970" cy="875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Introductions, Agenda,  </a:t>
            </a:r>
            <a:b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</a:br>
            <a: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PAL  at E &amp; 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7C8647-8B64-4157-8C9E-1F9B15393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443" y="999122"/>
            <a:ext cx="1881134" cy="3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4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0"/>
            <a:ext cx="9144000" cy="4114800"/>
          </a:xfrm>
          <a:prstGeom prst="rect">
            <a:avLst/>
          </a:prstGeom>
        </p:spPr>
      </p:pic>
      <p:sp>
        <p:nvSpPr>
          <p:cNvPr id="14" name="Shape 251"/>
          <p:cNvSpPr/>
          <p:nvPr/>
        </p:nvSpPr>
        <p:spPr>
          <a:xfrm>
            <a:off x="-12210" y="-130747"/>
            <a:ext cx="9144000" cy="5404994"/>
          </a:xfrm>
          <a:prstGeom prst="rect">
            <a:avLst/>
          </a:prstGeom>
          <a:solidFill>
            <a:srgbClr val="182730">
              <a:alpha val="7700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455" y="1898424"/>
            <a:ext cx="7897090" cy="20251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200" b="1" spc="-100" dirty="0">
                <a:solidFill>
                  <a:srgbClr val="00AE9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Introductions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400" b="1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Name, Team, Apps</a:t>
            </a:r>
          </a:p>
          <a:p>
            <a:pPr>
              <a:spcAft>
                <a:spcPts val="1200"/>
              </a:spcAft>
            </a:pPr>
            <a:endParaRPr lang="en-US" sz="4200" b="1" spc="-100" dirty="0">
              <a:solidFill>
                <a:srgbClr val="00AE9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7AA30-78D5-46F4-8CFB-9160BDA77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2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dirty="0">
                <a:solidFill>
                  <a:schemeClr val="accent1"/>
                </a:solidFill>
                <a:sym typeface="Arial"/>
              </a:rPr>
              <a:t>Workshop Agenda</a:t>
            </a:r>
            <a:br>
              <a:rPr lang="en-US" sz="3200" dirty="0">
                <a:solidFill>
                  <a:schemeClr val="accent1"/>
                </a:solidFill>
                <a:sym typeface="Arial"/>
              </a:rPr>
            </a:br>
            <a:endParaRPr lang="en-US" sz="3200" dirty="0">
              <a:solidFill>
                <a:schemeClr val="accent1"/>
              </a:solidFill>
              <a:sym typeface="Arial"/>
            </a:endParaRPr>
          </a:p>
        </p:txBody>
      </p:sp>
      <p:sp>
        <p:nvSpPr>
          <p:cNvPr id="196" name="Shape 196"/>
          <p:cNvSpPr txBox="1">
            <a:spLocks noGrp="1"/>
          </p:cNvSpPr>
          <p:nvPr>
            <p:ph type="body" sz="quarter" idx="13"/>
          </p:nvPr>
        </p:nvSpPr>
        <p:spPr>
          <a:xfrm>
            <a:off x="359241" y="624364"/>
            <a:ext cx="9078863" cy="4193042"/>
          </a:xfrm>
        </p:spPr>
        <p:txBody>
          <a:bodyPr/>
          <a:lstStyle/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09:00 </a:t>
            </a:r>
            <a:r>
              <a:rPr lang="mr-IN" dirty="0">
                <a:solidFill>
                  <a:schemeClr val="bg1"/>
                </a:solidFill>
                <a:sym typeface="Arial"/>
              </a:rPr>
              <a:t>–</a:t>
            </a:r>
            <a:r>
              <a:rPr lang="en-US" dirty="0">
                <a:solidFill>
                  <a:schemeClr val="bg1"/>
                </a:solidFill>
                <a:sym typeface="Arial"/>
              </a:rPr>
              <a:t> 9:30 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Welcome and Agenda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6"/>
                </a:solidFill>
                <a:sym typeface="Arial"/>
              </a:rPr>
              <a:t>			Cloud Native PAL workshop at Boeing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09:30 - 10:30 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Cloud Native Enterprise- Challenges of   Modernizing           			  			  Legacy workloads, DDD and Microservices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10:30 - 10:45  </a:t>
            </a:r>
            <a:r>
              <a:rPr lang="en-US" dirty="0">
                <a:solidFill>
                  <a:srgbClr val="8064A2"/>
                </a:solidFill>
                <a:sym typeface="Arial"/>
              </a:rPr>
              <a:t>Break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10:45 – 11:15 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PAL course deep dive – How PAL helps customers to accelerate their 				  digital transformation 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11:15 – 12:30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Introducing Spring Boot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3"/>
                </a:solidFill>
                <a:sym typeface="Arial"/>
              </a:rPr>
              <a:t>			  Lab 1: Building A Spring Boot Application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3"/>
                </a:solidFill>
                <a:sym typeface="Arial"/>
              </a:rPr>
              <a:t>		         Push it to Cloud Foundry !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                       </a:t>
            </a: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9B770-533F-4DA1-8BE1-D42C891ED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57" y="4860874"/>
            <a:ext cx="890995" cy="159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49B9C2-6EBF-4B99-B5AA-A5C2CEDE8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890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dirty="0">
                <a:solidFill>
                  <a:schemeClr val="accent1"/>
                </a:solidFill>
                <a:sym typeface="Arial"/>
              </a:rPr>
              <a:t>Workshop Agenda</a:t>
            </a:r>
          </a:p>
        </p:txBody>
      </p:sp>
      <p:sp>
        <p:nvSpPr>
          <p:cNvPr id="196" name="Shape 196"/>
          <p:cNvSpPr txBox="1">
            <a:spLocks noGrp="1"/>
          </p:cNvSpPr>
          <p:nvPr>
            <p:ph type="body" sz="quarter" idx="13"/>
          </p:nvPr>
        </p:nvSpPr>
        <p:spPr>
          <a:xfrm>
            <a:off x="359241" y="624364"/>
            <a:ext cx="9078863" cy="4193042"/>
          </a:xfrm>
        </p:spPr>
        <p:txBody>
          <a:bodyPr/>
          <a:lstStyle/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12:30 - 13:30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Lunch Break</a:t>
            </a:r>
            <a:r>
              <a:rPr lang="en-US" dirty="0">
                <a:solidFill>
                  <a:schemeClr val="bg1"/>
                </a:solidFill>
                <a:sym typeface="Arial"/>
              </a:rPr>
              <a:t> 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13</a:t>
            </a:r>
            <a:r>
              <a:rPr lang="en-US" dirty="0">
                <a:solidFill>
                  <a:srgbClr val="FFFFFF"/>
                </a:solidFill>
                <a:sym typeface="Arial"/>
              </a:rPr>
              <a:t>:30 - 14:45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Polyglot Persistence with Spring Data REST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6"/>
                </a:solidFill>
                <a:sym typeface="Arial"/>
              </a:rPr>
              <a:t>			Lab 2: Build a Hypermedia-Driven RESTful Web Service with Spring</a:t>
            </a:r>
            <a:br>
              <a:rPr lang="en-US" dirty="0">
                <a:solidFill>
                  <a:schemeClr val="accent6"/>
                </a:solidFill>
                <a:sym typeface="Arial"/>
              </a:rPr>
            </a:br>
            <a:r>
              <a:rPr lang="en-US" dirty="0">
                <a:solidFill>
                  <a:schemeClr val="accent6"/>
                </a:solidFill>
                <a:sym typeface="Arial"/>
              </a:rPr>
              <a:t>				    Data  REST</a:t>
            </a:r>
            <a:br>
              <a:rPr lang="en-US" dirty="0">
                <a:solidFill>
                  <a:schemeClr val="accent6"/>
                </a:solidFill>
                <a:sym typeface="Arial"/>
              </a:rPr>
            </a:br>
            <a:r>
              <a:rPr lang="en-US" dirty="0">
                <a:solidFill>
                  <a:srgbClr val="FFFFFF"/>
                </a:solidFill>
                <a:sym typeface="Arial"/>
              </a:rPr>
              <a:t>14:45 - 15:00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Break</a:t>
            </a:r>
            <a:endParaRPr lang="en-US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rgbClr val="FFFFFF"/>
                </a:solidFill>
                <a:sym typeface="Arial"/>
              </a:rPr>
              <a:t>15:00 - 16:30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Advancing Spring Boot with Actuator and Profiles</a:t>
            </a:r>
            <a:endParaRPr lang="en-US" sz="900" dirty="0">
              <a:solidFill>
                <a:srgbClr val="F79646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rgbClr val="9BBB59"/>
                </a:solidFill>
                <a:sym typeface="Arial"/>
              </a:rPr>
              <a:t>                       Lab 3: Enhancing Boot Application with Metrics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16:30 – 17:00 </a:t>
            </a:r>
            <a:r>
              <a:rPr lang="en-US" dirty="0">
                <a:solidFill>
                  <a:srgbClr val="8064A2"/>
                </a:solidFill>
                <a:sym typeface="Arial"/>
              </a:rPr>
              <a:t>Wrap-Up and Closing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8DB1A-D680-4B5D-B499-CB305DAF2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57" y="4868884"/>
            <a:ext cx="890995" cy="159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7AA13-0727-49A0-99C5-17B31521F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28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>
                <a:solidFill>
                  <a:schemeClr val="accent1"/>
                </a:solidFill>
                <a:sym typeface="Arial"/>
              </a:rPr>
              <a:t>Be Interactive!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1090354"/>
            <a:ext cx="5815276" cy="3271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93BB0-968A-4425-B7E6-67F6E3CB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429" y="4848095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421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ivotal Main">
  <a:themeElements>
    <a:clrScheme name="Pivotal R2">
      <a:dk1>
        <a:srgbClr val="000000"/>
      </a:dk1>
      <a:lt1>
        <a:srgbClr val="FFFFFF"/>
      </a:lt1>
      <a:dk2>
        <a:srgbClr val="4C4C4C"/>
      </a:dk2>
      <a:lt2>
        <a:srgbClr val="B3B3B3"/>
      </a:lt2>
      <a:accent1>
        <a:srgbClr val="008774"/>
      </a:accent1>
      <a:accent2>
        <a:srgbClr val="00AE9E"/>
      </a:accent2>
      <a:accent3>
        <a:srgbClr val="1F6FB8"/>
      </a:accent3>
      <a:accent4>
        <a:srgbClr val="19B4C1"/>
      </a:accent4>
      <a:accent5>
        <a:srgbClr val="6D4076"/>
      </a:accent5>
      <a:accent6>
        <a:srgbClr val="FFC85F"/>
      </a:accent6>
      <a:hlink>
        <a:srgbClr val="18B3C0"/>
      </a:hlink>
      <a:folHlink>
        <a:srgbClr val="6C3F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votal Main">
  <a:themeElements>
    <a:clrScheme name="Pivotal R2">
      <a:dk1>
        <a:srgbClr val="000000"/>
      </a:dk1>
      <a:lt1>
        <a:srgbClr val="FFFFFF"/>
      </a:lt1>
      <a:dk2>
        <a:srgbClr val="4C4C4C"/>
      </a:dk2>
      <a:lt2>
        <a:srgbClr val="B3B3B3"/>
      </a:lt2>
      <a:accent1>
        <a:srgbClr val="008774"/>
      </a:accent1>
      <a:accent2>
        <a:srgbClr val="00AE9E"/>
      </a:accent2>
      <a:accent3>
        <a:srgbClr val="1F6FB8"/>
      </a:accent3>
      <a:accent4>
        <a:srgbClr val="19B4C1"/>
      </a:accent4>
      <a:accent5>
        <a:srgbClr val="6D4076"/>
      </a:accent5>
      <a:accent6>
        <a:srgbClr val="FFC85F"/>
      </a:accent6>
      <a:hlink>
        <a:srgbClr val="18B3C0"/>
      </a:hlink>
      <a:folHlink>
        <a:srgbClr val="6C3F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28754</TotalTime>
  <Words>54</Words>
  <Application>Microsoft Office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Helvetica Neue</vt:lpstr>
      <vt:lpstr>Noto Symbol</vt:lpstr>
      <vt:lpstr>Verdana</vt:lpstr>
      <vt:lpstr>Office Theme</vt:lpstr>
      <vt:lpstr>3_Office Theme</vt:lpstr>
      <vt:lpstr>Pivotal Main</vt:lpstr>
      <vt:lpstr>1_Pivotal Main</vt:lpstr>
      <vt:lpstr>PowerPoint Presentation</vt:lpstr>
      <vt:lpstr>PowerPoint Presentation</vt:lpstr>
      <vt:lpstr>Workshop Agenda </vt:lpstr>
      <vt:lpstr>Workshop Agenda</vt:lpstr>
      <vt:lpstr>Be Interactive!</vt:lpstr>
    </vt:vector>
  </TitlesOfParts>
  <Manager/>
  <Company>BCom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Robert Brough</dc:creator>
  <cp:keywords/>
  <dc:description/>
  <cp:lastModifiedBy>Roy, Nilanjan</cp:lastModifiedBy>
  <cp:revision>272</cp:revision>
  <dcterms:created xsi:type="dcterms:W3CDTF">2015-10-05T21:15:00Z</dcterms:created>
  <dcterms:modified xsi:type="dcterms:W3CDTF">2019-06-11T11:48:18Z</dcterms:modified>
  <cp:category/>
</cp:coreProperties>
</file>